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night at 8:34pm, we deployed fn-connect.</a:t>
            </a:r>
          </a:p>
          <a:p>
            <a:r>
              <a:t>By 8:36, errors were spiking.</a:t>
            </a:r>
          </a:p>
          <a:p>
            <a:r>
              <a:t>By 9pm, error volume had tripled and was still climbing.</a:t>
            </a:r>
          </a:p>
          <a:p>
            <a:r>
              <a:t>One engineer spent 88 minutes figuring out what happened.</a:t>
            </a:r>
          </a:p>
          <a:p>
            <a:r>
              <a:t>Tonight we're going to show you how to do it in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an incident looks like from the outside.</a:t>
            </a:r>
          </a:p>
          <a:p/>
          <a:p>
            <a:r>
              <a:t>A deploy fires. Logs start throwing 500s and timeouts. Teams starts buzzing — error rate spikes, latency up, payment timeouts, customers reporting failures.</a:t>
            </a:r>
          </a:p>
          <a:p/>
          <a:p>
            <a:r>
              <a:t>Four streams of information. All at once. All in different tools.</a:t>
            </a:r>
          </a:p>
          <a:p/>
          <a:p>
            <a:r>
              <a:t>An engineer has to open all four, read them, correlate the timestamps by hand, form a hypothesis, confirm it with the team.</a:t>
            </a:r>
          </a:p>
          <a:p/>
          <a:p>
            <a:r>
              <a:t>That's the 88 minutes at the bottom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each card as you speak.</a:t>
            </a:r>
          </a:p>
          <a:p/>
          <a:p>
            <a:r>
              <a:t>4+ tabs: This is the reality every engineer faces when something breaks. Loki in one tab, Grafana in another, Teams in a third, GitLab in a fourth. No single view.</a:t>
            </a:r>
          </a:p>
          <a:p/>
          <a:p>
            <a:r>
              <a:t>88 minutes: That's not an outlier. As an example — 88 minutes to trace a single root cause across logs, metrics, and code.</a:t>
            </a:r>
          </a:p>
          <a:p/>
          <a:p>
            <a:r>
              <a:t>Zero documentation: When the dust settles, the root cause lives in someone's head.</a:t>
            </a:r>
          </a:p>
          <a:p/>
          <a:p>
            <a:r>
              <a:t>The bar chart is real Loki data — 950 errors per 2 minutes at baseline, 2,549 at first spike, 3,485 by 21:00 and still climbing.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flow top to bottom.</a:t>
            </a:r>
          </a:p>
          <a:p/>
          <a:p>
            <a:r>
              <a:t>Four sources — logs, metrics, Teams, diff. The engineer has all four open in separate tabs. That's the 88 minutes.</a:t>
            </a:r>
          </a:p>
          <a:p/>
          <a:p>
            <a:r>
              <a:t>One button. All four sources go to GPT-4o simultaneously. Not searched — correlated. It constructs a causal chain, not a list of errors.</a:t>
            </a:r>
          </a:p>
          <a:p/>
          <a:p>
            <a:r>
              <a:t>The output is structured: root cause with exact location and confidence, a timeline built from real data, and prioritised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left to right.</a:t>
            </a:r>
          </a:p>
          <a:p/>
          <a:p>
            <a:r>
              <a:t>Logs come in — raw, noisy, hundreds of lines. Deploy marker pins the version that changed. AI Agent correlates all sources simultaneously, builds a causal chain. Post-mortem comes out structured — root cause, timeline, actions.</a:t>
            </a:r>
          </a:p>
          <a:p/>
          <a:p>
            <a:r>
              <a:t>The data was always available. The bottleneck was the human connecting it. This removes that bottleneck.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the tool looks like when it works.</a:t>
            </a:r>
          </a:p>
          <a:p/>
          <a:p>
            <a:r>
              <a:t>Left panel — the four data sources loaded and ready.</a:t>
            </a:r>
          </a:p>
          <a:p>
            <a:r>
              <a:t>Middle panel — eight reasoning steps, all checked off. Each one is a real inference step.</a:t>
            </a:r>
          </a:p>
          <a:p>
            <a:r>
              <a:t>Right panel — root cause, HIGH confidence, EntityIdMappingUtil.java:590.</a:t>
            </a:r>
          </a:p>
          <a:p/>
          <a:p>
            <a:r>
              <a:t>The same answer the engineer found in 88 minutes.</a:t>
            </a:r>
          </a:p>
          <a:p>
            <a:r>
              <a:t>The AI found it in 4.</a:t>
            </a:r>
          </a:p>
          <a:p/>
          <a:p>
            <a:r>
              <a:t>[Switch to live browser demo now]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answer the engineer found after 88 minutes.</a:t>
            </a:r>
          </a:p>
          <a:p>
            <a:r>
              <a:t>The AI found it in 4. And it's documented instantly.</a:t>
            </a:r>
          </a:p>
          <a:p/>
          <a:p>
            <a:r>
              <a:t>Point to the causal chain:</a:t>
            </a:r>
          </a:p>
          <a:p>
            <a:r>
              <a:t>  Deploy at 20:34 → wrong contact record returned → entity ID is zero → XCRM rejects every stock code sync → STOCK_CODE_010 on every call.</a:t>
            </a:r>
          </a:p>
          <a:p/>
          <a:p>
            <a:r>
              <a:t>That's not a guess. That's the actual sequence traced from four data sources.</a:t>
            </a:r>
          </a:p>
          <a:p/>
          <a:p>
            <a:r>
              <a:t>And the timeline at the bottom is drawn from real timestamps — not reconstructed.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Without: four tabs, 150 log lines, manual timestamp correlation, 88 minutes.</a:t>
            </a:r>
          </a:p>
          <a:p>
            <a:r>
              <a:t>With: one button, 4 minutes, report already written.</a:t>
            </a:r>
          </a:p>
          <a:p/>
          <a:p>
            <a:r>
              <a:t>Same incident. Same root cause. Same fix.</a:t>
            </a:r>
          </a:p>
          <a:p>
            <a:r>
              <a:t>The only thing that changed is how long it took to find it.</a:t>
            </a:r>
          </a:p>
          <a:p/>
          <a:p>
            <a:r>
              <a:t>22 times faster. The speed bar at the bottom says it better than any words 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four numbers — let them land before you speak.</a:t>
            </a:r>
          </a:p>
          <a:p/>
          <a:p>
            <a:r>
              <a:t>88 minutes to find the problem. 14-minute detection gap. Error rate tripling while the investigation was ongoing.</a:t>
            </a:r>
          </a:p>
          <a:p/>
          <a:p>
            <a:r>
              <a:t>That's the cost. Not just engineering time — that's customer impact, that's trust.</a:t>
            </a:r>
          </a:p>
          <a:p/>
          <a:p>
            <a:r>
              <a:t>Then: ~4 minutes with AI Reckoning.</a:t>
            </a:r>
          </a:p>
          <a:p/>
          <a:p>
            <a:r>
              <a:t>The three bullets: faster MTTR, instant documentation, faster onboarding. This is what AI assistance looks like in a real engineering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incident like this costs engineering time, customer trust, and sleep.</a:t>
            </a:r>
          </a:p>
          <a:p>
            <a:r>
              <a:t>The investigation itself doesn't have to.</a:t>
            </a:r>
          </a:p>
          <a:p/>
          <a:p>
            <a:r>
              <a:t>AI Reckoning turns 88 minutes of manual correlation into a 4-minute report.</a:t>
            </a:r>
          </a:p>
          <a:p>
            <a:r>
              <a:t>The engineer still makes the decision. The AI does the detective work.</a:t>
            </a:r>
          </a:p>
          <a:p/>
          <a:p>
            <a:r>
              <a:t>This ran on a real production incident. It'll run on the next one too.</a:t>
            </a:r>
          </a:p>
          <a:p/>
          <a:p>
            <a:r>
              <a:t>[Pause. Let the room sit with the footer: 88 min → 4 min.]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3749039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282836"/>
                </a:solidFill>
                <a:latin typeface="Helvetica Neue"/>
              </a:rPr>
              <a:t>RECKONING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1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Helvetica Neue"/>
              </a:rPr>
              <a:t>AI RECKONING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1430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Helvetica Neue"/>
              </a:rPr>
              <a:t>Incident Investigation,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Helvetica Neue"/>
              </a:rPr>
              <a:t>Automated.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80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585"/>
                </a:solidFill>
                <a:latin typeface="Helvetica Neue"/>
              </a:rPr>
              <a:t>From 88 minutes of manual correlation to a 4-minute structured report.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493008"/>
            <a:ext cx="3657600" cy="36576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657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3A48"/>
                </a:solidFill>
                <a:latin typeface="Helvetica Neue"/>
              </a:rPr>
              <a:t>Built on a real production incident  ·  Chip1 Engineering  · 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85"/>
                </a:solidFill>
                <a:latin typeface="Helvetica Neue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od_incident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85"/>
                </a:solidFill>
                <a:latin typeface="Helvetica Neue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2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77724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A8"/>
                </a:solidFill>
                <a:latin typeface="Helvetica Neue"/>
              </a:rPr>
              <a:t>AI RECKONING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474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566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Incidents are slow to resolve — not because the answer is hard, but because the data is scattered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85"/>
                </a:solidFill>
                <a:latin typeface="Helvetica Neue"/>
              </a:rPr>
              <a:t>3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3474720" cy="3566160"/>
          </a:xfrm>
          <a:prstGeom prst="rect">
            <a:avLst/>
          </a:prstGeom>
          <a:solidFill>
            <a:srgbClr val="0C0C18"/>
          </a:solidFill>
          <a:ln w="6350">
            <a:solidFill>
              <a:srgbClr val="F04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005840"/>
            <a:ext cx="3474720" cy="54864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887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04F5E"/>
                </a:solidFill>
                <a:latin typeface="Helvetica Neue"/>
              </a:rPr>
              <a:t>4+ tabs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830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585"/>
                </a:solidFill>
                <a:latin typeface="Helvetica Neue"/>
              </a:rPr>
              <a:t>Logs. Metrics. Teams. Diff.
Every incident, the same manual hunt.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005840"/>
            <a:ext cx="3474720" cy="3566160"/>
          </a:xfrm>
          <a:prstGeom prst="rect">
            <a:avLst/>
          </a:prstGeom>
          <a:solidFill>
            <a:srgbClr val="0C0C18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00584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11887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Helvetica Neue"/>
              </a:rPr>
              <a:t>88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17830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585"/>
                </a:solidFill>
                <a:latin typeface="Helvetica Neue"/>
              </a:rPr>
              <a:t>For example — 88 minutes to find
a single root cause in one service.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1005840"/>
            <a:ext cx="3474720" cy="3566160"/>
          </a:xfrm>
          <a:prstGeom prst="rect">
            <a:avLst/>
          </a:prstGeom>
          <a:solidFill>
            <a:srgbClr val="0C0C18"/>
          </a:solidFill>
          <a:ln w="63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1005840"/>
            <a:ext cx="3474720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1887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A78BFA"/>
                </a:solidFill>
                <a:latin typeface="Helvetica Neue"/>
              </a:rPr>
              <a:t>Zero documentation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7830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585"/>
                </a:solidFill>
                <a:latin typeface="Helvetica Neue"/>
              </a:rPr>
              <a:t>Root cause lives in someone's head.
Written up later. Or not at all.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7091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2A8"/>
                </a:solidFill>
                <a:latin typeface="Helvetica Neue"/>
              </a:rPr>
              <a:t>ERROR COUNT / 2-MIN WINDOW — fn-connect 2026-05-21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910328"/>
            <a:ext cx="8229600" cy="9144"/>
          </a:xfrm>
          <a:prstGeom prst="rect">
            <a:avLst/>
          </a:prstGeom>
          <a:solidFill>
            <a:srgbClr val="1E1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662095"/>
            <a:ext cx="693964" cy="235784"/>
          </a:xfrm>
          <a:prstGeom prst="rect">
            <a:avLst/>
          </a:prstGeom>
          <a:solidFill>
            <a:srgbClr val="3A3A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8768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13262" y="5654649"/>
            <a:ext cx="693964" cy="243230"/>
          </a:xfrm>
          <a:prstGeom prst="rect">
            <a:avLst/>
          </a:prstGeom>
          <a:solidFill>
            <a:srgbClr val="3A3A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67542" y="5943600"/>
            <a:ext cx="8768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20:35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23605" y="5333238"/>
            <a:ext cx="693964" cy="564642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7885" y="5943600"/>
            <a:ext cx="8768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20:36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33948" y="5265232"/>
            <a:ext cx="693964" cy="632647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88228" y="5943600"/>
            <a:ext cx="8768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20:37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44291" y="5202936"/>
            <a:ext cx="693964" cy="694944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98571" y="5943600"/>
            <a:ext cx="8768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20:38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54634" y="5128477"/>
            <a:ext cx="693964" cy="769402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08914" y="5943600"/>
            <a:ext cx="8768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20:48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64977" y="5032922"/>
            <a:ext cx="693964" cy="864957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19257" y="5943600"/>
            <a:ext cx="8768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20:58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649685"/>
            <a:ext cx="7772400" cy="9144"/>
          </a:xfrm>
          <a:prstGeom prst="rect">
            <a:avLst/>
          </a:prstGeom>
          <a:solidFill>
            <a:srgbClr val="6B7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60" y="5558245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585"/>
                </a:solidFill>
                <a:latin typeface="Helvetica Neue"/>
              </a:rPr>
              <a:t>baseline ~950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50292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59E0B"/>
                </a:solidFill>
                <a:latin typeface="JetBrains Mono"/>
              </a:rPr>
              <a:t>Deploy 20:34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95728" y="5010912"/>
            <a:ext cx="9144" cy="8869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6035040"/>
            <a:ext cx="11548872" cy="548640"/>
          </a:xfrm>
          <a:prstGeom prst="rect">
            <a:avLst/>
          </a:prstGeom>
          <a:solidFill>
            <a:srgbClr val="0E0E18"/>
          </a:solidFill>
          <a:ln w="6350">
            <a:solidFill>
              <a:srgbClr val="2A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09904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585"/>
                </a:solidFill>
                <a:latin typeface="Helvetica Neue"/>
              </a:rPr>
              <a:t>⚙  fn-connect 2026-05-21: deploy 20:34  ·  errors 20:36  ·  root cause confirmed 20:55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2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77724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A8"/>
                </a:solidFill>
                <a:latin typeface="Helvetica Neue"/>
              </a:rPr>
              <a:t>AI RECKONING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474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Helvetica Neue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566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One button. Four data sources. A structured incident report in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85"/>
                </a:solidFill>
                <a:latin typeface="Helvetica Neue"/>
              </a:rPr>
              <a:t>4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2057400" cy="1371600"/>
          </a:xfrm>
          <a:prstGeom prst="rect">
            <a:avLst/>
          </a:prstGeom>
          <a:solidFill>
            <a:srgbClr val="10101A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88720"/>
            <a:ext cx="20574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Helvetica Neue"/>
              </a:rPr>
              <a:t>Logs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8013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Production errors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39" y="1188720"/>
            <a:ext cx="2057400" cy="1371600"/>
          </a:xfrm>
          <a:prstGeom prst="rect">
            <a:avLst/>
          </a:prstGeom>
          <a:solidFill>
            <a:srgbClr val="10101A"/>
          </a:solidFill>
          <a:ln w="63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39" y="1188720"/>
            <a:ext cx="2057400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1371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Helvetica Neue"/>
              </a:rPr>
              <a:t>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8013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Error rate chart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6359" y="1188720"/>
            <a:ext cx="2057400" cy="1371600"/>
          </a:xfrm>
          <a:prstGeom prst="rect">
            <a:avLst/>
          </a:prstGeom>
          <a:solidFill>
            <a:srgbClr val="10101A"/>
          </a:solidFill>
          <a:ln w="63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59" y="1188720"/>
            <a:ext cx="2057400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9240" y="1371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78BFA"/>
                </a:solidFill>
                <a:latin typeface="Helvetica Neue"/>
              </a:rPr>
              <a:t>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18013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Channel thread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1188720"/>
            <a:ext cx="2057400" cy="1371600"/>
          </a:xfrm>
          <a:prstGeom prst="rect">
            <a:avLst/>
          </a:prstGeom>
          <a:solidFill>
            <a:srgbClr val="10101A"/>
          </a:solidFill>
          <a:ln w="6350">
            <a:solidFill>
              <a:srgbClr val="F04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1188720"/>
            <a:ext cx="2057400" cy="54864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59" y="1371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4F5E"/>
                </a:solidFill>
                <a:latin typeface="Helvetica Neue"/>
              </a:rPr>
              <a:t>Diff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59" y="18013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Deploy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2633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A3A48"/>
                </a:solidFill>
                <a:latin typeface="Helvetica Neue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79" y="2633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A3A48"/>
                </a:solidFill>
                <a:latin typeface="Helvetica Neue"/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633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A3A48"/>
                </a:solidFill>
                <a:latin typeface="Helvetica Neue"/>
              </a:rPr>
              <a:t>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2633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A3A48"/>
                </a:solidFill>
                <a:latin typeface="Helvetica Neue"/>
              </a:rPr>
              <a:t>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3127248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585"/>
                </a:solidFill>
                <a:latin typeface="Helvetica Neue"/>
              </a:rPr>
              <a:t>GPT-4o  ·  cross-source correlation  ·  causal chain reasoning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657600"/>
            <a:ext cx="11183112" cy="2423160"/>
          </a:xfrm>
          <a:prstGeom prst="rect">
            <a:avLst/>
          </a:prstGeom>
          <a:solidFill>
            <a:srgbClr val="081410"/>
          </a:solidFill>
          <a:ln w="63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657600"/>
            <a:ext cx="1118311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A8"/>
                </a:solidFill>
                <a:latin typeface="Helvetica Neue"/>
              </a:rPr>
              <a:t>STRUCTURED INCIDENT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1422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A8"/>
                </a:solidFill>
                <a:latin typeface="Helvetica Neue"/>
              </a:rPr>
              <a:t>Root Cause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526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85"/>
                </a:solidFill>
                <a:latin typeface="Helvetica Neue"/>
              </a:rPr>
              <a:t>Exact file, method, line  ·  HIGH / MEDIUM / LOW confidence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02152" y="41422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Helvetica Neue"/>
              </a:rPr>
              <a:t>Timeline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02152" y="4526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85"/>
                </a:solidFill>
                <a:latin typeface="Helvetica Neue"/>
              </a:rPr>
              <a:t>Every event in order — deploy, spike, alert, fix — from real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27064" y="41422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  <a:latin typeface="Helvetica Neue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7064" y="4526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85"/>
                </a:solidFill>
                <a:latin typeface="Helvetica Neue"/>
              </a:rPr>
              <a:t>Why it happened  ·  What was missed  ·  Where the gaps 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1976" y="41422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4F5E"/>
                </a:solidFill>
                <a:latin typeface="Helvetica Neue"/>
              </a:rPr>
              <a:t>Actionables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51976" y="4526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585"/>
                </a:solidFill>
                <a:latin typeface="Helvetica Neue"/>
              </a:rPr>
              <a:t>URGENT  ·  WATCH  ·  TODO — prioritised, ready to act 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6035040"/>
            <a:ext cx="11548872" cy="548640"/>
          </a:xfrm>
          <a:prstGeom prst="rect">
            <a:avLst/>
          </a:prstGeom>
          <a:solidFill>
            <a:srgbClr val="0E0E18"/>
          </a:solidFill>
          <a:ln w="6350">
            <a:solidFill>
              <a:srgbClr val="2A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09904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585"/>
                </a:solidFill>
                <a:latin typeface="Helvetica Neue"/>
              </a:rPr>
              <a:t>⚙  No pre-baked answers · Works on any service · Author names replaced with roles — never stored · API keys never logged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ocess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85"/>
                </a:solidFill>
                <a:latin typeface="Helvetica Neue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lution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85"/>
                </a:solidFill>
                <a:latin typeface="Helvetica Neue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2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77724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A8"/>
                </a:solidFill>
                <a:latin typeface="Helvetica Neue"/>
              </a:rPr>
              <a:t>AI RECKONING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474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Helvetica Neue"/>
              </a:rPr>
              <a:t>The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566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Same root cause an engineer spent 88 minutes finding. Found in 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85"/>
                </a:solidFill>
                <a:latin typeface="Helvetica Neue"/>
              </a:rPr>
              <a:t>7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11183112" cy="1600200"/>
          </a:xfrm>
          <a:prstGeom prst="rect">
            <a:avLst/>
          </a:prstGeom>
          <a:solidFill>
            <a:srgbClr val="081410"/>
          </a:solidFill>
          <a:ln w="63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54864" cy="160020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618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2A8"/>
                </a:solidFill>
                <a:latin typeface="Helvetica Neue"/>
              </a:rPr>
              <a:t>ROOT CAUSE  ·  HIGH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Helvetica Neue"/>
              </a:rPr>
              <a:t>Wrong contact returned for accounts with duplicate entries — every stock code sync fails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JetBrains Mono"/>
              </a:rPr>
              <a:t>fn-connect  /  EntityIdMappingUtil.java:590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26080"/>
            <a:ext cx="2011680" cy="1371600"/>
          </a:xfrm>
          <a:prstGeom prst="rect">
            <a:avLst/>
          </a:prstGeom>
          <a:solidFill>
            <a:srgbClr val="0C0C18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26080"/>
            <a:ext cx="20116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44952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Helvetica Neue"/>
              </a:rPr>
              <a:t>Deploy
20:34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585"/>
                </a:solidFill>
                <a:latin typeface="Helvetica Neue"/>
              </a:rPr>
              <a:t>release/2026.05.20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47472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3A48"/>
                </a:solidFill>
                <a:latin typeface="Helvetica Neue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2926080"/>
            <a:ext cx="2011680" cy="1371600"/>
          </a:xfrm>
          <a:prstGeom prst="rect">
            <a:avLst/>
          </a:prstGeom>
          <a:solidFill>
            <a:srgbClr val="0C0C18"/>
          </a:solidFill>
          <a:ln w="6350">
            <a:solidFill>
              <a:srgbClr val="F04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0" y="2926080"/>
            <a:ext cx="2011680" cy="45720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044952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4F5E"/>
                </a:solidFill>
                <a:latin typeface="Helvetica Neue"/>
              </a:rPr>
              <a:t>Wrong record
returned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657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585"/>
                </a:solidFill>
                <a:latin typeface="Helvetica Neue"/>
              </a:rPr>
              <a:t>duplicate contacts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47472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3A48"/>
                </a:solidFill>
                <a:latin typeface="Helvetica Neue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80" y="2926080"/>
            <a:ext cx="2011680" cy="1371600"/>
          </a:xfrm>
          <a:prstGeom prst="rect">
            <a:avLst/>
          </a:prstGeom>
          <a:solidFill>
            <a:srgbClr val="0C0C18"/>
          </a:solidFill>
          <a:ln w="6350">
            <a:solidFill>
              <a:srgbClr val="F04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83480" y="2926080"/>
            <a:ext cx="2011680" cy="45720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3044952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4F5E"/>
                </a:solidFill>
                <a:latin typeface="Helvetica Neue"/>
              </a:rPr>
              <a:t>Entity ID =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657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585"/>
                </a:solidFill>
                <a:latin typeface="Helvetica Neue"/>
              </a:rPr>
              <a:t>getOtherId() fails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47472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3A48"/>
                </a:solidFill>
                <a:latin typeface="Helvetica Neue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3760" y="2926080"/>
            <a:ext cx="2011680" cy="1371600"/>
          </a:xfrm>
          <a:prstGeom prst="rect">
            <a:avLst/>
          </a:prstGeom>
          <a:solidFill>
            <a:srgbClr val="0C0C18"/>
          </a:solidFill>
          <a:ln w="6350">
            <a:solidFill>
              <a:srgbClr val="F04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760" y="2926080"/>
            <a:ext cx="2011680" cy="45720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60920" y="3044952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4F5E"/>
                </a:solidFill>
                <a:latin typeface="Helvetica Neue"/>
              </a:rPr>
              <a:t>XCRM rejects
every sync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3657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585"/>
                </a:solidFill>
                <a:latin typeface="Helvetica Neue"/>
              </a:rPr>
              <a:t>STOCK_CODE_010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47472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A3A48"/>
                </a:solidFill>
                <a:latin typeface="Helvetica Neue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4040" y="2926080"/>
            <a:ext cx="2011680" cy="1371600"/>
          </a:xfrm>
          <a:prstGeom prst="rect">
            <a:avLst/>
          </a:prstGeom>
          <a:solidFill>
            <a:srgbClr val="0C0C18"/>
          </a:solidFill>
          <a:ln w="63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64040" y="2926080"/>
            <a:ext cx="2011680" cy="4572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0" y="3044952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A8"/>
                </a:solidFill>
                <a:latin typeface="Helvetica Neue"/>
              </a:rPr>
              <a:t>Fix deployed
20:55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3657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585"/>
                </a:solidFill>
                <a:latin typeface="Helvetica Neue"/>
              </a:rPr>
              <a:t>PR #355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462272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2A8"/>
                </a:solidFill>
                <a:latin typeface="Helvetica Neue"/>
              </a:rPr>
              <a:t>INCIDENT TIMELINE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663440"/>
            <a:ext cx="7315200" cy="9144"/>
          </a:xfrm>
          <a:prstGeom prst="rect">
            <a:avLst/>
          </a:prstGeom>
          <a:solidFill>
            <a:srgbClr val="1E1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" y="4828031"/>
            <a:ext cx="7863840" cy="27432"/>
          </a:xfrm>
          <a:prstGeom prst="rect">
            <a:avLst/>
          </a:prstGeom>
          <a:solidFill>
            <a:srgbClr val="3A3A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4736592"/>
            <a:ext cx="228600" cy="228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029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JetBrains Mono"/>
              </a:rPr>
              <a:t>20:34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266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585"/>
                </a:solidFill>
                <a:latin typeface="Helvetica Neue"/>
              </a:rPr>
              <a:t>Deploy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0" y="4736592"/>
            <a:ext cx="228600" cy="228600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63240" y="5029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4F5E"/>
                </a:solidFill>
                <a:latin typeface="JetBrains Mono"/>
              </a:rPr>
              <a:t>20:36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3240" y="5266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585"/>
                </a:solidFill>
                <a:latin typeface="Helvetica Neue"/>
              </a:rPr>
              <a:t>Errors spike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15000" y="4736592"/>
            <a:ext cx="228600" cy="228600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5029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4F5E"/>
                </a:solidFill>
                <a:latin typeface="JetBrains Mono"/>
              </a:rPr>
              <a:t>20:48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0" y="5266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585"/>
                </a:solidFill>
                <a:latin typeface="Helvetica Neue"/>
              </a:rPr>
              <a:t>Alert raised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1040" y="4736592"/>
            <a:ext cx="228600" cy="22860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75320" y="50292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A8"/>
                </a:solidFill>
                <a:latin typeface="JetBrains Mono"/>
              </a:rPr>
              <a:t>20:55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5266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585"/>
                </a:solidFill>
                <a:latin typeface="Helvetica Neue"/>
              </a:rPr>
              <a:t>Root cause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6035040"/>
            <a:ext cx="11548872" cy="548640"/>
          </a:xfrm>
          <a:prstGeom prst="rect">
            <a:avLst/>
          </a:prstGeom>
          <a:solidFill>
            <a:srgbClr val="0E0E18"/>
          </a:solidFill>
          <a:ln w="6350">
            <a:solidFill>
              <a:srgbClr val="2A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9904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585"/>
                </a:solidFill>
                <a:latin typeface="Helvetica Neue"/>
              </a:rPr>
              <a:t>⚙  All timestamps from real log / metric / Teams data — not inferred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2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77724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A8"/>
                </a:solidFill>
                <a:latin typeface="Helvetica Neue"/>
              </a:rPr>
              <a:t>AI RECKONING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474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Helvetica Neue"/>
              </a:rPr>
              <a:t>Before &amp; After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566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Same incident. Same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85"/>
                </a:solidFill>
                <a:latin typeface="Helvetica Neue"/>
              </a:rPr>
              <a:t>8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05840"/>
            <a:ext cx="5394960" cy="4709160"/>
          </a:xfrm>
          <a:prstGeom prst="rect">
            <a:avLst/>
          </a:prstGeom>
          <a:solidFill>
            <a:srgbClr val="120606"/>
          </a:solidFill>
          <a:ln w="6350">
            <a:solidFill>
              <a:srgbClr val="F04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005840"/>
            <a:ext cx="5394960" cy="384048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06984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Helvetica Neue"/>
              </a:rPr>
              <a:t>WITHOUT AI RECKONING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087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Open Loki. Open Grafana. Open Teams. Open GitLab.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Scroll 150 log lines by eye.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14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Correlate timestamps manually.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Form a hypothesis. Confirm with the team.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04F5E"/>
                </a:solidFill>
                <a:latin typeface="Helvetica Neue"/>
              </a:rPr>
              <a:t>88 minutes to root cause.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262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Helvetica Neue"/>
              </a:rPr>
              <a:t>Documentation written later — if at all.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1005840"/>
            <a:ext cx="5852160" cy="4709160"/>
          </a:xfrm>
          <a:prstGeom prst="rect">
            <a:avLst/>
          </a:prstGeom>
          <a:solidFill>
            <a:srgbClr val="06120E"/>
          </a:solidFill>
          <a:ln w="63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89320" y="1005840"/>
            <a:ext cx="5852160" cy="384048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06984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Helvetica Neue"/>
              </a:rPr>
              <a:t>WITH AI RECKONING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508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Open AI Reckoning. Click Run.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Watch reasoning stream live.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514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2A8"/>
                </a:solidFill>
                <a:latin typeface="Helvetica Neue"/>
              </a:rPr>
              <a:t>~4 minutes to root cause.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520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A8"/>
                </a:solidFill>
                <a:latin typeface="Helvetica Neue"/>
              </a:rPr>
              <a:t>Report generated instantly.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023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526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22× faster. Zero extra effort.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806440"/>
            <a:ext cx="5394960" cy="201168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80644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Helvetica Neue"/>
              </a:rPr>
              <a:t>88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5806440"/>
            <a:ext cx="266007" cy="201168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580644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A0A0A"/>
                </a:solidFill>
                <a:latin typeface="Helvetica Neue"/>
              </a:rPr>
              <a:t>~4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6035040"/>
            <a:ext cx="11548872" cy="548640"/>
          </a:xfrm>
          <a:prstGeom prst="rect">
            <a:avLst/>
          </a:prstGeom>
          <a:solidFill>
            <a:srgbClr val="0E0E18"/>
          </a:solidFill>
          <a:ln w="6350">
            <a:solidFill>
              <a:srgbClr val="2A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09904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585"/>
                </a:solidFill>
                <a:latin typeface="Helvetica Neue"/>
              </a:rPr>
              <a:t>⚙  The engineer still makes the decision — the AI does the detective 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2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77724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A8"/>
                </a:solidFill>
                <a:latin typeface="Helvetica Neue"/>
              </a:rPr>
              <a:t>AI RECKONING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474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Helvetica Neue"/>
              </a:rPr>
              <a:t>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566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Every incident costs time, trust, and sleep. The investigation doesn't have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85"/>
                </a:solidFill>
                <a:latin typeface="Helvetica Neue"/>
              </a:rPr>
              <a:t>9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2514600" cy="2148840"/>
          </a:xfrm>
          <a:prstGeom prst="rect">
            <a:avLst/>
          </a:prstGeom>
          <a:solidFill>
            <a:srgbClr val="0C0C1A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251460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53312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59E0B"/>
                </a:solidFill>
                <a:latin typeface="Helvetica Neue"/>
              </a:rPr>
              <a:t>88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762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to find root cause
in a real incident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39" y="1143000"/>
            <a:ext cx="2514600" cy="2148840"/>
          </a:xfrm>
          <a:prstGeom prst="rect">
            <a:avLst/>
          </a:prstGeom>
          <a:solidFill>
            <a:srgbClr val="0C0C1A"/>
          </a:solidFill>
          <a:ln w="63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39" y="1143000"/>
            <a:ext cx="2514600" cy="64008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353312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0C2A8"/>
                </a:solidFill>
                <a:latin typeface="Helvetica Neue"/>
              </a:rPr>
              <a:t>~4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762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with AI Reckoning
for the same incident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59" y="1143000"/>
            <a:ext cx="2514600" cy="2148840"/>
          </a:xfrm>
          <a:prstGeom prst="rect">
            <a:avLst/>
          </a:prstGeom>
          <a:solidFill>
            <a:srgbClr val="0C0C1A"/>
          </a:solidFill>
          <a:ln w="6350">
            <a:solidFill>
              <a:srgbClr val="F04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59" y="1143000"/>
            <a:ext cx="2514600" cy="64008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353312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04F5E"/>
                </a:solidFill>
                <a:latin typeface="Helvetica Neue"/>
              </a:rPr>
              <a:t>2.7×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1762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error rate spike
while investigating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1143000"/>
            <a:ext cx="2514600" cy="2148840"/>
          </a:xfrm>
          <a:prstGeom prst="rect">
            <a:avLst/>
          </a:prstGeom>
          <a:solidFill>
            <a:srgbClr val="0C0C1A"/>
          </a:solidFill>
          <a:ln w="63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680" y="1143000"/>
            <a:ext cx="251460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353312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A78BFA"/>
                </a:solidFill>
                <a:latin typeface="Helvetica Neue"/>
              </a:rPr>
              <a:t>14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21762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585"/>
                </a:solidFill>
                <a:latin typeface="Helvetica Neue"/>
              </a:rPr>
              <a:t>detection gap
deploy to first alert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4564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2A8"/>
                </a:solidFill>
                <a:latin typeface="Helvetica Neue"/>
              </a:rPr>
              <a:t>ERROR COUNT DURING INCIDENT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657600"/>
            <a:ext cx="4572000" cy="9144"/>
          </a:xfrm>
          <a:prstGeom prst="rect">
            <a:avLst/>
          </a:prstGeom>
          <a:solidFill>
            <a:srgbClr val="1E1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348625"/>
            <a:ext cx="449035" cy="223374"/>
          </a:xfrm>
          <a:prstGeom prst="rect">
            <a:avLst/>
          </a:prstGeom>
          <a:solidFill>
            <a:srgbClr val="3A3A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6319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20:34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21377" y="4341571"/>
            <a:ext cx="449035" cy="230428"/>
          </a:xfrm>
          <a:prstGeom prst="rect">
            <a:avLst/>
          </a:prstGeom>
          <a:solidFill>
            <a:srgbClr val="3A3A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5657" y="4617720"/>
            <a:ext cx="6319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20:35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39834" y="4037076"/>
            <a:ext cx="449035" cy="534924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94114" y="4617720"/>
            <a:ext cx="6319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20:36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8291" y="3972649"/>
            <a:ext cx="449035" cy="599350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12571" y="4617720"/>
            <a:ext cx="6319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20:37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76748" y="3913632"/>
            <a:ext cx="449035" cy="658368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31028" y="4617720"/>
            <a:ext cx="6319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95205" y="3843092"/>
            <a:ext cx="449035" cy="728907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49485" y="4617720"/>
            <a:ext cx="6319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20:48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13662" y="3752566"/>
            <a:ext cx="449035" cy="819433"/>
          </a:xfrm>
          <a:prstGeom prst="rect">
            <a:avLst/>
          </a:prstGeom>
          <a:solidFill>
            <a:srgbClr val="F0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67942" y="4617720"/>
            <a:ext cx="6319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3A3A48"/>
                </a:solidFill>
                <a:latin typeface="JetBrains Mono"/>
              </a:rPr>
              <a:t>20:58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336868"/>
            <a:ext cx="5029200" cy="9144"/>
          </a:xfrm>
          <a:prstGeom prst="rect">
            <a:avLst/>
          </a:prstGeom>
          <a:solidFill>
            <a:srgbClr val="6B7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59" y="424542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585"/>
                </a:solidFill>
                <a:latin typeface="Helvetica Neue"/>
              </a:rPr>
              <a:t>baseline ~950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456432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C2A8"/>
                </a:solidFill>
                <a:latin typeface="Helvetica Neue"/>
              </a:rPr>
              <a:t>WHAT THIS UNLOCKS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3657600"/>
            <a:ext cx="5760720" cy="9144"/>
          </a:xfrm>
          <a:prstGeom prst="rect">
            <a:avLst/>
          </a:prstGeom>
          <a:solidFill>
            <a:srgbClr val="1E1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0" y="38404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F0"/>
                </a:solidFill>
                <a:latin typeface="Helvetica Neue"/>
              </a:rPr>
              <a:t>→  Faster MTTR — spend time fixing, not finding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4074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F0"/>
                </a:solidFill>
                <a:latin typeface="Helvetica Neue"/>
              </a:rPr>
              <a:t>→  Instant documentation — structured report at the moment of resolution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497433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F0"/>
                </a:solidFill>
                <a:latin typeface="Helvetica Neue"/>
              </a:rPr>
              <a:t>→  Faster onboarding — new engineers get AI context when a bug hits production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6035040"/>
            <a:ext cx="11548872" cy="548640"/>
          </a:xfrm>
          <a:prstGeom prst="rect">
            <a:avLst/>
          </a:prstGeom>
          <a:solidFill>
            <a:srgbClr val="0E0E18"/>
          </a:solidFill>
          <a:ln w="6350">
            <a:solidFill>
              <a:srgbClr val="2A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609904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585"/>
                </a:solidFill>
                <a:latin typeface="Helvetica Neue"/>
              </a:rPr>
              <a:t>⚙  22× speed improvement on this incident  ·  Generalises to any service — change the logs, change the 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0" b="1" i="0">
                <a:solidFill>
                  <a:srgbClr val="282836"/>
                </a:solidFill>
                <a:latin typeface="Helvetica Neue"/>
              </a:rPr>
              <a:t>RECKONING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Helvetica Neue"/>
              </a:rPr>
              <a:t>AI RECKONING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1907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Helvetica Neue"/>
              </a:rPr>
              <a:t>The engineer makes the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59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6B7585"/>
                </a:solidFill>
                <a:latin typeface="Helvetica Neue"/>
              </a:rPr>
              <a:t>The AI does the detective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090672"/>
            <a:ext cx="4114800" cy="36576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3101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585"/>
                </a:solidFill>
                <a:latin typeface="Helvetica Neue"/>
              </a:rPr>
              <a:t>This ran on a real production incident.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3075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585"/>
                </a:solidFill>
                <a:latin typeface="Helvetica Neue"/>
              </a:rPr>
              <a:t>It'll run on the next one too.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4343400"/>
            <a:ext cx="7315200" cy="749808"/>
          </a:xfrm>
          <a:prstGeom prst="rect">
            <a:avLst/>
          </a:prstGeom>
          <a:solidFill>
            <a:srgbClr val="0A1A14"/>
          </a:solidFill>
          <a:ln w="63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4507992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2A8"/>
                </a:solidFill>
                <a:latin typeface="Helvetica Neue"/>
              </a:rPr>
              <a:t>Manual investigation  88 min  →  ~4 min  with AI Reckoning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03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3A48"/>
                </a:solidFill>
                <a:latin typeface="Helvetica Neue"/>
              </a:rPr>
              <a:t>Chip1 Engineering  · 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585"/>
                </a:solidFill>
                <a:latin typeface="Helvetica Neue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